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KẾ HOẠCH MARKETING VÀ ĐẦU TƯ TOÀN DIỆN</a:t>
            </a:r>
          </a:p>
          <a:p>
            <a:pPr>
              <a:spcAft>
                <a:spcPts val="800"/>
              </a:spcAft>
              <a:defRPr sz="3000" b="1">
                <a:solidFill>
                  <a:srgbClr val="F9FAFB"/>
                </a:solidFill>
                <a:latin typeface="Arial"/>
              </a:defRPr>
            </a:pPr>
            <a:r>
              <a:t>DỰ ÁN KHỞI NGHIỆP THỜI TRANG ÁO PHÔNG TRENDY</a:t>
            </a:r>
          </a:p>
          <a:p>
            <a:pPr>
              <a:spcAft>
                <a:spcPts val="2800"/>
              </a:spcAft>
              <a:defRPr sz="1700">
                <a:solidFill>
                  <a:srgbClr val="34D399"/>
                </a:solidFill>
                <a:latin typeface="Arial"/>
              </a:defRPr>
            </a:pPr>
            <a:r>
              <a:t>Định hướng &amp; Tiêu chuẩn Chương trình Đào tạo PTIT</a:t>
            </a:r>
          </a:p>
          <a:p>
            <a:pPr>
              <a:defRPr sz="1300">
                <a:solidFill>
                  <a:srgbClr val="D1D5DB"/>
                </a:solidFill>
                <a:latin typeface="Arial"/>
              </a:defRPr>
            </a:pPr>
            <a:r>
              <a:t>Mô hình tinh gọn (Lean Startup) · Kiểm thử trend trước khi sản xuất · Tự động hóa đa kênh Omnichannel</a:t>
            </a:r>
          </a:p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SẢN PHẨM  |  KÊNH BÁN  |  VẬN HÀNH  |  TÀI CHÍNH DÒNG TIỀN  |  ĐO LƯỜNG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BỐI CẢNH THỊ TRƯỜNG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Thị trường mở rộng, nhưng tốc độ bắt trend quyết định lợi thế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KHÁCH HÀNG MỤC TIÊU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Gen Z &amp; Gen Y (18–35)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Mua sắm thường xuyên trên TikTok Shop và Shopee.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Chuộng hình ảnh visual bắt mắt, phá cách.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Ưu tiên chất liệu mát mẻ, form rộng thoải mái, giá mềm.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ĐÒN BẨY &amp; CƠ HỘI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Bùng Nổ E-Commerce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TikTok Shop &amp; Shopee Live tăng trưởng lượng traffic tự nhiên.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Nguồn mẫu in vô tận từ 1688, Taobao và Pinterest.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Công cụ AI (Midjourney/Photoshop) hỗ trợ thiết kế mẫu siêu tốc.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THÁCH THỨC &amp; RỦI RO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Cạnh Tranh &amp; Thoái Trào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Cạnh tranh gay gắt về giá từ các xưởng sản xuất lớn.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Tốc độ thoái trào trend nhanh chóng chỉ sau 1–2 tuần.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Tỷ lệ hoàn hàng COD tương đối cao trên sàn TikTok.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Lợi thế không nằm ở việc có nhiều mẫu nhất, mà ở việc bắt đúng trend trước khi trend đi qua.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ĐỊNH VỊ THƯƠNG HIỆU &amp; KHÁCH HÀNG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Định vị cho nhóm khách trẻ thích streetwear vừa túi tiền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PHÂN KHÚC (SEGMENTATION)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Nam &amp; Nữ 18–35 Tuổi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Học sinh, sinh viên và người đi làm trẻ tại các đô thị lớn.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Có thói quen lướt mạng xã hội trên 2 giờ/ngày.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Hành vi mua sắm ngẫu hứng theo trào lưu số.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Arial"/>
              </a:defRPr>
            </a:pPr>
            <a:r>
              <a:t>NHU CẦU CỐT LÕI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Streetwear Cá Tính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Tìm kiếm áo basic kết hợp hình in độc đáo, không đụng hàng.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Yêu cầu chất vải cotton lạnh co giãn, thoát mồ hôi tốt.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Khung giá vừa túi tiền từ 130.000đ đến 180.000đ.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TUYÊN NGÔN ĐỊNH VỊ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Positioning Statement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“Áo phông chuẩn Cotton lạnh – Hình in bắt trend – Mua sắm tiện lợi trên mọi nền tảng”.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Trải nghiệm mở hộp chỉn chu: túi niêm phong logo, hangtag và thẻ cảm ơn.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Giao hàng siêu tốc trong ngày nhờ đồng bộ kho tự động.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Giá dễ tiếp cận và hình in bắt trend kéo khách trẻ từ lúc nhìn thấy đến lúc ra quyết định mua.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PHÂN TÍCH SWOT VÀ CÁCH XỬ LÝ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Lợi thế nằm ở test mẫu trước khi sản xuất hàng loạt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ĐIỂM MẠNH (STRENGTHS)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Kiểm Soát &amp; Tự Động Hóa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Kiểm soát chất lượng phôi áo Cotton lạnh co giãn khác biệt.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Tối ưu chi phí nhờ kiểm thử mockup trước khi sản xuất.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Hệ thống đồng bộ đơn hàng Web - Shopee - TikTok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ĐIỂM YẾU (WEAKNESSES)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Thương Hiệu Mới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Độ nhận diện thương hiệu ban đầu bằng 0 (Brand Awareness).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Phụ thuộc nhiều vào tốc độ săn trend và màng in PET.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Chi phí đầu tư thiết bị ép nhiệt và phần mềm ban đầu.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HƯỚNG XỬ LÝ CHIẾN LƯỢC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Giữ Phôi, Chưa Giữ Hình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Giữ 100% tồn kho an toàn ở dạng phôi áo trơn (Đen, Trắng, Xanh).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Chỉ ép hình nhiệt khi dữ liệu pre-order xác nhận nhu cầu.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Triệt tiêu 95% rủi ro tồn kho ế ẩm do mẫu lỗi trend.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Hàng tồn kho chủ yếu là phôi áo trơn; rủi ro nằm ở hình in, nên quyết định sản xuất phải đi sau dữ liệu.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MỤC TIÊU THỬ NGHIỆM 3 THÁNG ĐẦU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Ba mục tiêu trọng tâm trong 90 ngày khởi chạy thử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MỤC TIÊU DOANH SỐ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1.000 – 1.500 Đơn/Tháng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Chạy thử nghiệm mở bán trong 3 tháng đầu tiên.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Đạt điểm hòa vốn và bắt đầu sinh lời ròng từ tháng thứ 2.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Tập trung thúc đẩy bán combo 2 áo để tăng giá trị đơn (AOV).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Arial"/>
              </a:defRPr>
            </a:pPr>
            <a:r>
              <a:t>MỤC TIÊU THƯƠNG HIỆU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20.000 Followers TikTok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Xây dựng kênh nội dung TikTok đạt 20.000 người theo dõi.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Tỷ lệ đánh giá 5 sao trên Shopee &amp; TikTok Shop đạt &gt; 98%.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Tạo dựng uy tín ban đầu qua feedback review chất vải thật.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MỤC TIÊU VẬN HÀNH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&lt; 5% Đứt &amp; Tồn Kho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Giảm tỷ lệ hết hàng (Out of stock) xuống dưới 5%.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Tồn kho áo in lỗi thời duy trì dưới 5% nhờ quy trình test trend.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Tốc độ đóng gói và bàn giao đơn vị vận chuyển &lt; 24 giờ.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Ba tháng đầu là bài kiểm tra đồng thời của nhu cầu thị trường, độ tin cậy và khả năng giữ hàng đúng lúc.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CHIẾN LƯỢC MARKETING MIX: SẢN PHẨM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05A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Cấu trúc sản phẩm cốt lõi &amp; Quy trình 4 bước bắt trend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PHÔI ÁO CỐT LÕI (CORE)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Cotton Lạnh Co Giãn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Áo phông trơn 3 màu chủ lực: Đen - Trắng - Xanh Coban.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Chất liệu cotton lạnh: Thoát nhiệt, không xù lông, giữ form.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Đầy đủ dải size chuẩn người Việt: M, L, XL form rộng unisex.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YẾU TỐ GIA TĂNG (AUGMENTED)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In PET &amp; Đóng Gói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Công nghệ in màng PET chuyển nhiệt sắc nét, bền màu.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Thiết kế riêng độc bản kết hợp mẫu săn trend 1688/Taobao.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Túi niêm phong in logo, thẻ cảm ơn (Thank-you card), giấy thơm.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Arial"/>
              </a:defRPr>
            </a:pPr>
            <a:r>
              <a:t>QUY TRÌNH 4 BƯỚC BẮT TREND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Vòng Lặp Tinh Gọn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1. Săn mẫu: Quét trend TikTok/Pinterest/Taobao hoặc tạo bằng AI.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2. Test Market: Đăng mockup bán thử pre-order 2–3 ngày.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3. Sản xuất: Dập máy ép nhiệt hàng loạt khi đạt ngưỡng đơn.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4. Quản trị: Giữ an toàn phôi trơn, luân chuyển mẫu liên tục.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Danh mục bắt đầu bằng phôi cơ bản, giá dễ thử và biên đủ rộng để mở rộng mẫu thắng.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CHIẾN LƯỢC GIÁ &amp; CẤU TRÚC CHI PHÍ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05B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Định giá thâm nhập kết hợp Combo nâng cao giá trị đơn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KHUNG GIÁ NIÊM YẾT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130.000đ – 180.000đ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Mức giá dễ tiếp cận học sinh, sinh viên và người trẻ.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Chiến lược định giá thâm nhập (Penetration Pricing) tháng đầu.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Chiến lược Combo: Mua 2 áo giá 260.000đ + Freeship tăng AOV.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CHI PHÍ TRỰC TIẾP (COGS)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~50.000đ – 65.000đ/Áo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Phôi áo cotton lạnh chất lượng cao: ~35.000đ - 45.000đ/áo.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Chi phí in chuyển nhiệt (Màng PET + mực): ~10.000đ - 15.000đ/áo.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Bao bì, tem mác, giấy thơm, túi đóng: ~3.000đ - 5.000đ/đơn.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HIỆU QUẢ KINH TẾ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Biên Lãi Gộp &gt; 60%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Lãi gộp trên từng sản phẩm đạt từ 80.000đ đến 115.000đ/áo.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Tạo biên độ an toàn cực lớn để chi trả phí sàn và voucher.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Đảm bảo dòng tiền dương ngay từ các đợt bán thử nghiệm đầu tiên.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Biên lợi nhuận gộp trên 60% tạo biên độ an toàn tuyệt đối để hấp thụ chi phí quảng cáo và voucher sàn.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KÊNH PHÂN PHỐI &amp; CÔNG NGHỆ PTIT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Bán ở nơi khách đang lướt, đồng bộ ở nơi đội ngũ làm việc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SÀN TMĐT TRỌNG ĐIỂM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TikTok Shop &amp; Shopee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Kênh bán chính, chiếm 80% tổng sản lượng đơn hàng.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Thu hút lượng traffic tự nhiên khổng lồ qua video và livestream.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Tối ưu Flash Sale và tiếp thị liên kết (Affiliate).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Arial"/>
              </a:defRPr>
            </a:pPr>
            <a:r>
              <a:t>KÊNH BRAND &amp; XƯỞNG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Website Lookbook &amp; Kho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Website chuẩn SEO hiển thị trọn bộ sưu tập và form đặt hàng.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Xưởng nhỏ trang bị máy ép nhiệt và khu vực đóng gói đạt chuẩn.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Chủ động xử lý đơn hàng và bàn giao bưu tá trong ngày.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ĐỒNG BỘ ĐA KÊNH PTIT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Kết Nối API Real-Time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Ứng dụng phần mềm Sapo / Nhanh.vn kết nối Web - Shopee - TikTok.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Đồng bộ số lượng tồn kho phôi áo theo thời gian thực.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Tránh triệt để lỗi hết hàng mà vẫn nhận đơn hoặc tồn kho 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Khách hàng có thể mua ở nhiều nơi; đội ngũ vận hành chỉ cần một nguồn tồn kho đúng và đồng bộ.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CHIẾN LƯỢC XÚC TIẾN BÁN HÀNG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TikTok tạo nhu cầu, Shopee chốt đơn, KOC tăng độ tin cậy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TIKTOK MARKETING (MŨI NHỌN)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Video OOTD &amp; Livestream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Sản xuất video biến hình, phối đồ OOTD theo trend nhạc hot.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Video review cận cảnh độ mát và co giãn của chất vải cotton lạnh.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Livestream bán hàng khung giờ vàng: 12h trưa &amp; 20h30 tối.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SHOPEE MARKETING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SEO Gian Hàng &amp; Ads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Tối ưu SEO tiêu đề: 'áo phông cotton lạnh', 'áo thun trendy'.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Chạy Shopee Ads từ khóa chính xác và quảng cáo khám phá.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Tung mã giảm giá voucher theo từng khung giờ Flash Sale.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BOOKING KOC AFFILIATE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Micro-Influencer Gu Đẹp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Gửi tặng mẫu áo cho các bạn KOC phối đồ đẹp trên TikTok.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KOC gắn link Bio và link tiếp thị liên kết TikTok Shop.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Chi phí trả theo hoa hồng đơn thực tế (Commission model).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Mỗi kênh giữ một vai trò rõ rệt: TikTok kéo sự chú ý, Shopee hoàn tất giao dịch, KOC tạo bằng chứng xã hội.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VẬN HÀNH &amp; HỌC NHANH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Luồng vận hành biến mỗi đơn hàng thành một vòng học nhanh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87168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487168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47672"/>
            <a:ext cx="21579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01 · KHÁCH ĐẶT</a:t>
            </a:r>
          </a:p>
          <a:p>
            <a:pPr>
              <a:spcAft>
                <a:spcPts val="8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t>Đa Kênh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Khách chốt đơn trên Web, Shopee hoặc TikTok Shop.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Đơn ghi nhận ngay lập tức.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83080"/>
            <a:ext cx="2487168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783080"/>
            <a:ext cx="2487168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47672"/>
            <a:ext cx="21579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  <a:latin typeface="Arial"/>
              </a:defRPr>
            </a:pPr>
            <a:r>
              <a:t>02 · TIẾP NHẬN</a:t>
            </a:r>
          </a:p>
          <a:p>
            <a:pPr>
              <a:spcAft>
                <a:spcPts val="8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t>API Real-Time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Phần mềm báo email admin tức thì.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Tự động trừ kho phôi áo theo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2487168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2487168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21579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03 · ÉP &amp; GIAO</a:t>
            </a:r>
          </a:p>
          <a:p>
            <a:pPr>
              <a:spcAft>
                <a:spcPts val="8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t>Trong Ngày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Xưởng lấy phôi dập máy ép nhiệt PET.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Đóng gói túi niêm phong logo.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Bàn giao đơn vị vận chuyển.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783080"/>
            <a:ext cx="2487168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783080"/>
            <a:ext cx="2487168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1947672"/>
            <a:ext cx="21579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04 · ĐÁNH GIÁ</a:t>
            </a:r>
          </a:p>
          <a:p>
            <a:pPr>
              <a:spcAft>
                <a:spcPts val="8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t>Tối Ưu Trend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Mẫu bán chạy: ép sản xuất thêm.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Mẫu chậm: dừng ép, đổi trend mới.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Học nhanh sau 48h dữ liệu.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Đơn hàng không chỉ tạo doanh thu; nó cho biết mẫu nào đáng ép tiếp và mẫu nào cần đổi.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LỘ TRÌNH TRIỂN KHAI 90 NGÀY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Ba tháng đầu: dựng nền, mở bán, rồi tăng tốc quy mô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THÁNG 1: DỰNG NỀN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Setup &amp; Test Sản Phẩm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Thuê mặt bằng xưởng nhỏ, mua máy ép nhiệt cao áp 40x60cm.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Nhập máy in/phim PET, phôi áo cotton lạnh và túi niêm phong.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Dựng gian hàng Shopee, TikTok Shop, Website và kết nối Sapo.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Bố trí nhân viên part-time phụ trách đóng gói kiểm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THÁNG 2: MỞ BÁN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Khởi Động &amp; Thử Nghiệm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Đăng tải video TikTok phối đồ hàng ngày kết hợp chạy Ads nhỏ.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Mở bán thử nghiệm đo lường quy trình đóng gói và đồng bộ kho.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Khắc phục các lỗi vận hành phát sinh trong khâu giao nhận.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THÁNG 3: TĂNG TỐC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Hero Products &amp; Scale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Lựa chọn 3–5 mẫu bán chạy nhất (Hero products) để ép số lượng lớn.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Tăng cường tần suất Livestream hàng ngày vào khung giờ vàng.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Mở rộng booking micro KOC gắn giỏ hàng affiliate diện rộng.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Ba tháng đầu tạo nền vận hành vững chắc, kiểm tra thị trường và đưa các mẫu thắng vào nhịp tăng trưởng.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DỰ TOÁN NGÂN SÁCH ĐẦU TƯ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Cơ cấu vốn 40,5 – 69,5 triệu: tập trung vào máy móc, phôi và test thị trường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1. VỐN CỐ ĐỊNH (CAPEX)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11 – 20 Triệu VNĐ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Máy ép nhiệt khổ lớn 40x60cm: 6.000.000đ - 12.000.000đ (đầu tư 1 lần).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Thuê mặt bằng / xưởng nhỏ: 3.000.000đ - 5.000.000đ (cọc + 1 tháng nhà).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Bàn kiểm hàng, kệ kho, dụng cụ đóng gói: 2.000.000đ - 3.000.000đ.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Arial"/>
              </a:defRPr>
            </a:pPr>
            <a:r>
              <a:t>2. MARKETING &amp; HỆ THỐNG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10 – 17 Triệu VNĐ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Website + Phần mềm đồng bộ Sapo/Nhanh: 2.000.000đ - 4.000.000đ/năm.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Mua file in trend 1688 &amp; thiết kế thử: 1.000.000đ - 2.000.000đ.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Ngân sách quảng cáo TikTok/Shopee Ads: 5.000.000đ - 8.000.000đ.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Booking KOC &amp; tặng mẫu sản phẩm: 2.000.000đ - 3.000.000đ.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3. VẬN HÀNH &amp; PHÔI (OPEX)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19,5 – 32,5 Triệu VNĐ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Màng in PET + mực in chuyển nhiệt (300-500 mẫu): 3.000.000đ - 5.000.000đ.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Bao bì túi niêm phong in logo, thẻ cảm ơn: 1.500.000đ - 2.500.000đ.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Lương nhân viên đóng gói part-time: 3.000.000đ - 5.000.000đ.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Tồn kho 300–500 phôi áo cotton lạnh dự trữ: 12.000.000đ - 20.000.000đ.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Vốn đầu tư dưới 70 triệu an toàn; tiền nằm ở máy móc và phôi áo trơn thanh khoản cao, không bị chôn vào áo in ế.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ĐO LƯỜNG &amp; KIỂM SOÁT (KPIS)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Năm chỉ số sống còn giữ biên lợi nhuận và dòng tiền không bị đứt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87168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487168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47672"/>
            <a:ext cx="21579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ROAS QUẢNG CÁO</a:t>
            </a:r>
          </a:p>
          <a:p>
            <a:pPr>
              <a:spcAft>
                <a:spcPts val="8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t>3.5 – 4.0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Bảo đảm điểm hòa vốn.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Giữ lãi ròng sau trừ phí sàn và voucher trợ giá.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83080"/>
            <a:ext cx="2487168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783080"/>
            <a:ext cx="2487168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47672"/>
            <a:ext cx="21579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TỶ LỆ CHUYỂN ĐỔI</a:t>
            </a:r>
          </a:p>
          <a:p>
            <a:pPr>
              <a:spcAft>
                <a:spcPts val="8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t>&gt; 2.5%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Shopee &amp; TikTok Shop đạt &gt; 2.5%.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Website lookbook đạt &gt; 1.5%.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2487168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2487168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21579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TỶ LỆ HOÀN COD</a:t>
            </a:r>
          </a:p>
          <a:p>
            <a:pPr>
              <a:spcAft>
                <a:spcPts val="8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t>&lt; 5.0%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Khống chế hoàn đơn TikTok.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Tự động gửi tin nhắn/gọi xác nhận sau khi khách đặt.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783080"/>
            <a:ext cx="2487168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783080"/>
            <a:ext cx="2487168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1947672"/>
            <a:ext cx="21579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  <a:latin typeface="Arial"/>
              </a:defRPr>
            </a:pPr>
            <a:r>
              <a:t>VÒNG QUAY KHO</a:t>
            </a:r>
          </a:p>
          <a:p>
            <a:pPr>
              <a:spcAft>
                <a:spcPts val="8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t>15 – 20 Ngày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Xoay vòng phôi liên tục.</a:t>
            </a:r>
          </a:p>
          <a:p>
            <a:pPr>
              <a:spcAft>
                <a:spcPts val="400"/>
              </a:spcAft>
              <a:defRPr sz="1100">
                <a:solidFill>
                  <a:srgbClr val="D1D5DB"/>
                </a:solidFill>
                <a:latin typeface="Arial"/>
              </a:defRPr>
            </a:pPr>
            <a:r>
              <a:t>• Cắt mẫu in chậm sau 48h test số liệu thực tế.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Mô hình thời trang nhanh chỉ sống sót khi tỷ lệ hoàn COD được khống chế dưới 5% và vòng quay kho không quá 20 ngày.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TÀI CHÍNH &amp; ĐIỂM HÒA VỐN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216152" cy="3200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QUADRO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728655" cy="1371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FAFB"/>
                </a:solidFill>
                <a:latin typeface="Arial"/>
              </a:defRPr>
            </a:pPr>
            <a:r>
              <a:t>Điểm hòa vốn sau 280–320 áo, sinh lời rõ rệt từ tháng thứ 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649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ĐƠN VỊ SẢN PHẨM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Giá Bán: 150.000đ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COGS trực tiếp: ~55.000đ/áo.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Lãi gộp trên từng áo: 95.000đ/áo (~63%).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Phí sàn TMĐT &amp; bao bì đóng gói: ~25.000đ/áo.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Đóng góp ròng trên mỗi áo: ~45.000đ - 50.000đ.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83080"/>
            <a:ext cx="336499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t>ĐỊNH PHÍ HÀNG THÁNG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Cố Định: 14 – 16 Tr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Tiền thuê xưởng sản xuất: ~4.000.000đ/tháng.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Lương nhân viên đóng gói part-time: ~5.000.000đ/tháng.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Phần mềm quản lý đa kênh Sapo: ~1.500.000đ/tháng.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Khấu hao máy móc &amp; chi phí điện nước: ~3.500.000đ/tháng.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83080"/>
            <a:ext cx="3364992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36499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9923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KỊCH BẢN SINH LỜI</a:t>
            </a:r>
          </a:p>
          <a:p>
            <a:pPr>
              <a:spcAft>
                <a:spcPts val="800"/>
              </a:spcAft>
              <a:defRPr sz="1700" b="1">
                <a:solidFill>
                  <a:srgbClr val="F9FAFB"/>
                </a:solidFill>
                <a:latin typeface="Arial"/>
              </a:defRPr>
            </a:pPr>
            <a:r>
              <a:t>1.200 Đơn / Tháng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Sản lượng hòa vốn: Chỉ cần 280 – 320 áo/tháng.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Khi đạt 1.200 đơn/tháng (theo mục tiêu đề ra):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Doanh thu đạt: ~180.000.000đ/tháng.</a:t>
            </a:r>
          </a:p>
          <a:p>
            <a:pPr>
              <a:spcAft>
                <a:spcPts val="500"/>
              </a:spcAft>
              <a:defRPr sz="1200">
                <a:solidFill>
                  <a:srgbClr val="D1D5DB"/>
                </a:solidFill>
                <a:latin typeface="Arial"/>
              </a:defRPr>
            </a:pPr>
            <a:r>
              <a:t>• LỢI NHUẬN RÒNG DỰ KIẾN: 35 – 42 TRIỆU/THÁNG (ROI &gt; 50%).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SO WHAT</a:t>
            </a:r>
          </a:p>
          <a:p>
            <a:pPr>
              <a:defRPr sz="1200">
                <a:solidFill>
                  <a:srgbClr val="F9FAFB"/>
                </a:solidFill>
                <a:latin typeface="Arial"/>
              </a:defRPr>
            </a:pPr>
            <a:r>
              <a:t>Biên lợi nhuận gộp trên 60% giúp dự án vượt qua điểm hòa vốn nhanh và hấp thụ tốt các đợt biến động chi phí quảng cáo sàn.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760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CA3AF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